
<file path=[Content_Types].xml><?xml version="1.0" encoding="utf-8"?>
<Types xmlns="http://schemas.openxmlformats.org/package/2006/content-types">
  <Default Extension="xml" ContentType="application/vnd.openxmlformats-package.core-properties+xml"/>
  <Default Extension="bin" ContentType="image/webp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9ed6c45336462e" /><Relationship Type="http://schemas.openxmlformats.org/officeDocument/2006/relationships/extended-properties" Target="/docProps/app.xml" Id="R2adb2db057f449a2" /><Relationship Type="http://schemas.openxmlformats.org/officeDocument/2006/relationships/officeDocument" Target="/ppt/presentation.xml" Id="Rf7d1b415d12548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95c88a96544b7c"/>
  </p:sldMasterIdLst>
  <p:notesMasterIdLst>
    <p:notesMasterId xmlns:r="http://schemas.openxmlformats.org/officeDocument/2006/relationships" r:id="Rcb3ed76368ad42d5"/>
  </p:notesMasterIdLst>
  <p:sldIdLst>
    <p:sldId xmlns:r="http://schemas.openxmlformats.org/officeDocument/2006/relationships" id="256" r:id="R04421598bbc64998"/>
    <p:sldId xmlns:r="http://schemas.openxmlformats.org/officeDocument/2006/relationships" id="257" r:id="Rd77ad8378f9f4a1d"/>
    <p:sldId xmlns:r="http://schemas.openxmlformats.org/officeDocument/2006/relationships" id="258" r:id="Ra2bcba023a024e1f"/>
    <p:sldId xmlns:r="http://schemas.openxmlformats.org/officeDocument/2006/relationships" id="259" r:id="Ra14ba5ba21344af2"/>
    <p:sldId xmlns:r="http://schemas.openxmlformats.org/officeDocument/2006/relationships" id="260" r:id="Rc172494638ed4bd6"/>
    <p:sldId xmlns:r="http://schemas.openxmlformats.org/officeDocument/2006/relationships" id="261" r:id="R80264ebd03d7405b"/>
    <p:sldId xmlns:r="http://schemas.openxmlformats.org/officeDocument/2006/relationships" id="262" r:id="Re9f4d6f8089a4258"/>
    <p:sldId xmlns:r="http://schemas.openxmlformats.org/officeDocument/2006/relationships" id="263" r:id="Ra04d956857e443c9"/>
    <p:sldId xmlns:r="http://schemas.openxmlformats.org/officeDocument/2006/relationships" id="264" r:id="R980d2cee78a8452a"/>
    <p:sldId xmlns:r="http://schemas.openxmlformats.org/officeDocument/2006/relationships" id="265" r:id="Rc40bb84026064de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50f561715e4a05" /><Relationship Type="http://schemas.openxmlformats.org/officeDocument/2006/relationships/slideMaster" Target="/ppt/slideMasters/slideMaster1.xml" Id="R6b95c88a96544b7c" /><Relationship Type="http://schemas.openxmlformats.org/officeDocument/2006/relationships/notesMaster" Target="/ppt/notesMasters/notesMaster1.xml" Id="Rcb3ed76368ad42d5" /><Relationship Type="http://schemas.openxmlformats.org/officeDocument/2006/relationships/presProps" Target="/ppt/presProps.xml" Id="R3dd5a76b05664198" /><Relationship Type="http://schemas.openxmlformats.org/officeDocument/2006/relationships/tableStyles" Target="/ppt/tableStyles.xml" Id="R54ed424aa40547ae" /><Relationship Type="http://schemas.openxmlformats.org/officeDocument/2006/relationships/slide" Target="/ppt/slides/slide1.xml" Id="R04421598bbc64998" /><Relationship Type="http://schemas.openxmlformats.org/officeDocument/2006/relationships/slide" Target="/ppt/slides/slide2.xml" Id="Rd77ad8378f9f4a1d" /><Relationship Type="http://schemas.openxmlformats.org/officeDocument/2006/relationships/slide" Target="/ppt/slides/slide3.xml" Id="Ra2bcba023a024e1f" /><Relationship Type="http://schemas.openxmlformats.org/officeDocument/2006/relationships/slide" Target="/ppt/slides/slide4.xml" Id="Ra14ba5ba21344af2" /><Relationship Type="http://schemas.openxmlformats.org/officeDocument/2006/relationships/slide" Target="/ppt/slides/slide5.xml" Id="Rc172494638ed4bd6" /><Relationship Type="http://schemas.openxmlformats.org/officeDocument/2006/relationships/slide" Target="/ppt/slides/slide6.xml" Id="R80264ebd03d7405b" /><Relationship Type="http://schemas.openxmlformats.org/officeDocument/2006/relationships/slide" Target="/ppt/slides/slide7.xml" Id="Re9f4d6f8089a4258" /><Relationship Type="http://schemas.openxmlformats.org/officeDocument/2006/relationships/slide" Target="/ppt/slides/slide8.xml" Id="Ra04d956857e443c9" /><Relationship Type="http://schemas.openxmlformats.org/officeDocument/2006/relationships/slide" Target="/ppt/slides/slide9.xml" Id="R980d2cee78a8452a" /><Relationship Type="http://schemas.openxmlformats.org/officeDocument/2006/relationships/slide" Target="/ppt/slides/slide10.xml" Id="Rc40bb84026064d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9982e2c4bf14a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a5b47cfddc44d4" /><Relationship Type="http://schemas.openxmlformats.org/officeDocument/2006/relationships/notesMaster" Target="/ppt/notesMasters/notesMaster1.xml" Id="Rdd885c7a33f5421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5920a23f5048c2" /><Relationship Type="http://schemas.openxmlformats.org/officeDocument/2006/relationships/notesMaster" Target="/ppt/notesMasters/notesMaster1.xml" Id="Rb6672f7921ca41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05b700c65641de" /><Relationship Type="http://schemas.openxmlformats.org/officeDocument/2006/relationships/notesMaster" Target="/ppt/notesMasters/notesMaster1.xml" Id="R84dd2b503b8a4c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25619f3a4d4624" /><Relationship Type="http://schemas.openxmlformats.org/officeDocument/2006/relationships/notesMaster" Target="/ppt/notesMasters/notesMaster1.xml" Id="R8b0f4dd1cc2e47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4dece9db3734b17" /><Relationship Type="http://schemas.openxmlformats.org/officeDocument/2006/relationships/notesMaster" Target="/ppt/notesMasters/notesMaster1.xml" Id="Rc909ae027c6f497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58d31da50c140d7" /><Relationship Type="http://schemas.openxmlformats.org/officeDocument/2006/relationships/notesMaster" Target="/ppt/notesMasters/notesMaster1.xml" Id="Rc700fbb279114a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c73b3fe58a4a91" /><Relationship Type="http://schemas.openxmlformats.org/officeDocument/2006/relationships/notesMaster" Target="/ppt/notesMasters/notesMaster1.xml" Id="Rc433808c1dbc43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778f1519ba4840" /><Relationship Type="http://schemas.openxmlformats.org/officeDocument/2006/relationships/notesMaster" Target="/ppt/notesMasters/notesMaster1.xml" Id="Rc42f4c09280543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b367ea2d8ef4e35" /><Relationship Type="http://schemas.openxmlformats.org/officeDocument/2006/relationships/notesMaster" Target="/ppt/notesMasters/notesMaster1.xml" Id="Rfedd73ed924b4d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ca41fbd6ef24f0d" /><Relationship Type="http://schemas.openxmlformats.org/officeDocument/2006/relationships/notesMaster" Target="/ppt/notesMasters/notesMaster1.xml" Id="R010f4a18253040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297b7fb3bd46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be2ae8644f426f" /><Relationship Type="http://schemas.openxmlformats.org/officeDocument/2006/relationships/slideLayout" Target="/ppt/slideLayouts/slideLayout1.xml" Id="R8fd321c6dcce4d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d321c6dcce4d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fa4074a7e4ec0" /><Relationship Type="http://schemas.openxmlformats.org/officeDocument/2006/relationships/image" Target="/ppt/media/image.bin" Id="R270d8ab08dae4d40" /><Relationship Type="http://schemas.openxmlformats.org/officeDocument/2006/relationships/notesSlide" Target="/ppt/notesSlides/notesSlide1.xml" Id="R505092120cb04f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2e09a6fdfd4860" /><Relationship Type="http://schemas.openxmlformats.org/officeDocument/2006/relationships/notesSlide" Target="/ppt/notesSlides/notesSlide2.xml" Id="R09017bb336664c6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b08892048c46bd" /><Relationship Type="http://schemas.openxmlformats.org/officeDocument/2006/relationships/image" Target="/ppt/media/image.png" Id="Rdd106e23cb1e4e6e" /><Relationship Type="http://schemas.openxmlformats.org/officeDocument/2006/relationships/notesSlide" Target="/ppt/notesSlides/notesSlide3.xml" Id="R230e2216a63642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caa926a5f419b" /><Relationship Type="http://schemas.openxmlformats.org/officeDocument/2006/relationships/image" Target="/ppt/media/image2.png" Id="R399895d684c94c5b" /><Relationship Type="http://schemas.openxmlformats.org/officeDocument/2006/relationships/notesSlide" Target="/ppt/notesSlides/notesSlide4.xml" Id="R6f408be74a9e46b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044ed242d4aa5" /><Relationship Type="http://schemas.openxmlformats.org/officeDocument/2006/relationships/image" Target="/ppt/media/image3.png" Id="R6d8a0805ed504417" /><Relationship Type="http://schemas.openxmlformats.org/officeDocument/2006/relationships/notesSlide" Target="/ppt/notesSlides/notesSlide5.xml" Id="R2a9c03bdf5a045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fbde9cc894350" /><Relationship Type="http://schemas.openxmlformats.org/officeDocument/2006/relationships/image" Target="/ppt/media/image4.png" Id="R11c3dfbd84864364" /><Relationship Type="http://schemas.openxmlformats.org/officeDocument/2006/relationships/image" Target="/ppt/media/image5.png" Id="R3a64bd5c17d34487" /><Relationship Type="http://schemas.openxmlformats.org/officeDocument/2006/relationships/notesSlide" Target="/ppt/notesSlides/notesSlide6.xml" Id="R962103d415b242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32eca2d582426b" /><Relationship Type="http://schemas.openxmlformats.org/officeDocument/2006/relationships/image" Target="/ppt/media/image6.png" Id="R214b19bb94eb43bf" /><Relationship Type="http://schemas.openxmlformats.org/officeDocument/2006/relationships/notesSlide" Target="/ppt/notesSlides/notesSlide7.xml" Id="R63a068fc89f54a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37c6a3e6e24b82" /><Relationship Type="http://schemas.openxmlformats.org/officeDocument/2006/relationships/image" Target="/ppt/media/image7.png" Id="R1cd837ac6f1b4c25" /><Relationship Type="http://schemas.openxmlformats.org/officeDocument/2006/relationships/image" Target="/ppt/media/image8.png" Id="R2de6d3cb4cd84341" /><Relationship Type="http://schemas.openxmlformats.org/officeDocument/2006/relationships/notesSlide" Target="/ppt/notesSlides/notesSlide8.xml" Id="Rbdc3fc0df21c45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eb16ac73748e0" /><Relationship Type="http://schemas.openxmlformats.org/officeDocument/2006/relationships/image" Target="/ppt/media/image9.png" Id="Rc310054af11f4345" /><Relationship Type="http://schemas.openxmlformats.org/officeDocument/2006/relationships/notesSlide" Target="/ppt/notesSlides/notesSlide9.xml" Id="R657480fdb990466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2f31c8d054cda" /><Relationship Type="http://schemas.openxmlformats.org/officeDocument/2006/relationships/notesSlide" Target="/ppt/notesSlides/notesSlide10.xml" Id="R9eea82d723044d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DEBA1A-EA1B-4B0F-A218-EEEC1554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3F"/>
          </a:solidFill>
          <a:ln xmlns:a="http://schemas.openxmlformats.org/drawingml/2006/main" w="0">
            <a:solidFill>
              <a:srgbClr val="00533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EAE0F-2179-4E6C-882C-D53B2A8C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81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CEFE6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35D04-BC16-415C-828F-54297AE80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0"/>
            <a:ext cx="51435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5670"/>
          </a:bodyPr>
          <a:lstStyle xmlns:a="http://schemas.openxmlformats.org/drawingml/2006/main"/>
          <a:p xmlns:a="http://schemas.openxmlformats.org/drawingml/2006/main">
            <a:pPr algn="l"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Smart meal planning,
from pantry to plate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1B599-B4F6-4FC9-8E81-8A66F2445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38600"/>
            <a:ext cx="4762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CEFE6"/>
                </a:solidFill>
                <a:latin typeface="Arial"/>
                <a:ea typeface="Arial"/>
                <a:cs typeface="Arial"/>
              </a:defRPr>
            </a:pPr>
            <a:r>
              <a:t>A Nigerian-first platform that connects inventory, recipes, meal plans, groceries, nutrition and cooking in one continuous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8A737-5D4F-4DE6-864F-30D31A8D9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81650"/>
            <a:ext cx="1657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E6BE0-B3E9-443E-99EA-544B7B8F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67400"/>
            <a:ext cx="476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PLATFORM OVERVIEW  •  JULY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9D0EF9-802F-456A-AAA7-951D68B70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0050"/>
            <a:ext cx="5410200" cy="6057900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d8ab08dae4d40"/>
          <a:srcRect xmlns:a="http://schemas.openxmlformats.org/drawingml/2006/main" l="0" t="4984" r="0" b="49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96050" y="514350"/>
            <a:ext cx="5181600" cy="5829300"/>
          </a:xfrm>
          <a:prstGeom xmlns:a="http://schemas.openxmlformats.org/drawingml/2006/main" prst="roundRect">
            <a:avLst>
              <a:gd name="adj" fmla="val 2206"/>
            </a:avLst>
          </a:prstGeom>
        </p:spPr>
      </p:pic>
    </p:spTree>
    <p:extLst>
      <p:ext uri="{BB962C8B-B14F-4D97-AF65-F5344CB8AC3E}">
        <p14:creationId xmlns:p14="http://schemas.microsoft.com/office/powerpoint/2010/main" val="19020727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2">
            <a:extLst xmlns:a="http://schemas.openxmlformats.org/drawingml/2006/main">
              <a:ext uri="{FF2B5EF4-FFF2-40B4-BE49-F238E27FC236}">
                <a16:creationId xmlns:a16="http://schemas.microsoft.com/office/drawing/2014/main" id="{6D6AB9E7-A316-4488-8580-2E579AEA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241C6BD6-8528-475B-B496-49832FE3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WHY IT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31AE3-2151-42B7-9897-B98736DE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16C20B0B-0EE2-4FDF-8101-6C7E65D0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203035-7D56-4BBC-A094-6BB3DEC25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71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Meal planning breaks when every step lives somewhere else</a:t>
            </a:r>
          </a:p>
        </p:txBody>
      </p:sp>
      <p:sp>
        <p:nvSpPr>
          <p:cNvPr id="6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709D844-CAAE-40A8-A651-54EEA1F9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95425"/>
            <a:ext cx="1066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Pantry-to-Plate turns a fragmented household routine into one connected decision flow.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307F0D-DFC6-46BA-B958-DE98B94E0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A36"/>
          </a:solidFill>
          <a:ln xmlns:a="http://schemas.openxmlformats.org/drawingml/2006/main" w="0">
            <a:solidFill>
              <a:srgbClr val="E6AA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A60B7C-7D26-4801-AADC-6497A9CA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E6AA36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99B1CF-1F5F-45A0-8229-EBD6A8B0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33750"/>
            <a:ext cx="342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Know what is 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4D43EA-BC3C-4CCD-84A8-37D99EB5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33718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Track quantities, measurement units, expiry dates and low-stock items instead of relying on memory.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2A37F-D52F-4FBD-9A3B-F7724BDB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36446-054B-4D9B-A93D-847359EC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86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6B57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F67409-C7DA-42E0-9FD9-A4EF42AD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33750"/>
            <a:ext cx="342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Choose what makes sense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231F53-5F3B-4CFF-BBE4-9617A323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71950"/>
            <a:ext cx="33718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Match Nigerian recipes against the pantry, expose missing ingredients and plan meals around real preferences.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F8AB50-7497-4A6B-97BA-3FFBFD9E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00300"/>
            <a:ext cx="3429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6B54"/>
          </a:solidFill>
          <a:ln xmlns:a="http://schemas.openxmlformats.org/drawingml/2006/main" w="0">
            <a:solidFill>
              <a:srgbClr val="0D6B5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0988E7-F029-43E3-97EF-E395EA9F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86050"/>
            <a:ext cx="857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D6B54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89F2F1-DE98-46E9-B327-73CEC0D31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33750"/>
            <a:ext cx="34290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Keep the loop accurate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5FA62-29FD-4807-8EFF-A5196385A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71950"/>
            <a:ext cx="3371850" cy="13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Turn planned meals into a shopping list, add purchases back to stock, then deduct ingredients after cooking.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34A6F9-4072-44DA-A0AC-91CD2200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001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The result: less guesswork, less waste and a clearer path to the next meal.</a:t>
            </a:r>
          </a:p>
        </p:txBody>
      </p:sp>
    </p:spTree>
    <p:extLst>
      <p:ext uri="{BB962C8B-B14F-4D97-AF65-F5344CB8AC3E}">
        <p14:creationId xmlns:p14="http://schemas.microsoft.com/office/powerpoint/2010/main" val="43613497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3">
            <a:extLst xmlns:a="http://schemas.openxmlformats.org/drawingml/2006/main">
              <a:ext uri="{FF2B5EF4-FFF2-40B4-BE49-F238E27FC236}">
                <a16:creationId xmlns:a16="http://schemas.microsoft.com/office/drawing/2014/main" id="{ED1D59F3-5E28-4598-843A-2FA6F139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202FA49A-7747-4CB8-B429-F754BA24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PLATFORM OVERVIEW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4D26CA-F677-4954-A19D-23F034E5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9995C84B-B984-4382-9AC1-C9738600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6C2590-3E56-454E-9E10-401C2E72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64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One dashboard brings the full food-planning loop into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60B17-632B-4A9D-A4D5-A5E9563C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90700"/>
            <a:ext cx="7620000" cy="42672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8E90C-7A4E-4CD9-B38C-73E17843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238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556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The home experience combines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7877B0-AB28-4551-8A0B-D5BA708E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4"/>
          </a:solidFill>
          <a:ln xmlns:a="http://schemas.openxmlformats.org/drawingml/2006/main" w="0">
            <a:solidFill>
              <a:srgbClr val="0D6B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3645AC-BBDF-48BD-B673-F17070C5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527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Today’s meal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9FDC84-7E03-481B-A044-39DF2A39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3067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A clear next action, recipe progress and direct access to cooking mode.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3DCBAA-6D50-48D4-9869-35391EFDF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A36"/>
          </a:solidFill>
          <a:ln xmlns:a="http://schemas.openxmlformats.org/drawingml/2006/main" w="0">
            <a:solidFill>
              <a:srgbClr val="E6AA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535A8-8CBB-46D5-AEB5-FE69CBB8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Weekly nutrition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049382-F3C3-411F-956B-FED72CE1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3067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At-a-glance macro estimates and a direct route into deeper analytics.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390743-58A2-4118-81BC-1435D1DA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7112F-A490-4D99-A705-88A094077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3067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Pantry signals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D7D1F-C68D-4A12-95A2-6F9C2F31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3067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8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Recommendations, item counts, expiry warnings and grocery status in context.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106e23cb1e4e6e"/>
          <a:stretch xmlns:a="http://schemas.openxmlformats.org/drawingml/2006/main"/>
        </p:blipFill>
        <p:spPr>
          <a:xfrm xmlns:a="http://schemas.openxmlformats.org/drawingml/2006/main">
            <a:off x="5320400" y="1905000"/>
            <a:ext cx="5323099" cy="4038600"/>
          </a:xfrm>
          <a:prstGeom xmlns:a="http://schemas.openxmlformats.org/drawingml/2006/main" prst="roundRect">
            <a:avLst>
              <a:gd name="adj" fmla="val 2830"/>
            </a:avLst>
          </a:prstGeom>
        </p:spPr>
      </p:pic>
    </p:spTree>
    <p:extLst>
      <p:ext uri="{BB962C8B-B14F-4D97-AF65-F5344CB8AC3E}">
        <p14:creationId xmlns:p14="http://schemas.microsoft.com/office/powerpoint/2010/main" val="2135287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4">
            <a:extLst xmlns:a="http://schemas.openxmlformats.org/drawingml/2006/main">
              <a:ext uri="{FF2B5EF4-FFF2-40B4-BE49-F238E27FC236}">
                <a16:creationId xmlns:a16="http://schemas.microsoft.com/office/drawing/2014/main" id="{88333EF5-F3B6-4993-B813-08B10CAB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3C227B09-9F3E-4FBC-BABE-3E27BCC6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PERSONALIZATION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4B9416-729C-4332-87E6-41864188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58F9D412-A668-4D26-9230-F9F07069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4DF0F6-8CFD-46BC-9735-7053CDC7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649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Onboarding builds a meal plan around the person, not a generic diet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7D335E-2B9B-4419-B6FB-EB4CB94C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43100"/>
            <a:ext cx="702945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2AD9B0-F804-4C94-B542-1C3BADB2E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43100"/>
            <a:ext cx="41529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3F"/>
          </a:solidFill>
          <a:ln xmlns:a="http://schemas.openxmlformats.org/drawingml/2006/main" w="0">
            <a:solidFill>
              <a:srgbClr val="0053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1C360-D31D-4D1A-A8A4-4E77DA0BD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86000"/>
            <a:ext cx="3333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Personalization captured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9D2A2-B364-44BC-A53A-56E98DA6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146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FE6"/>
                </a:solidFill>
                <a:latin typeface="Arial"/>
                <a:ea typeface="Arial"/>
                <a:cs typeface="Arial"/>
              </a:defRPr>
            </a:pPr>
            <a:r>
              <a:t>Food preferences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427CD7-A6B8-4563-9759-02DE7EF6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81350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Meals and ingredients the user enjoys.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D5361-93A9-4C53-A8A4-B0F00DF07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004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FE6"/>
                </a:solidFill>
                <a:latin typeface="Arial"/>
                <a:ea typeface="Arial"/>
                <a:cs typeface="Arial"/>
              </a:defRPr>
            </a:pPr>
            <a:r>
              <a:t>Cooking goals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AACF3-ACEE-4215-B041-130EAD6F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67150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72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Budget, speed, nutrition and waste priorities.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5094A8-B56B-4AF6-8864-AC9FEF0E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FE6"/>
                </a:solidFill>
                <a:latin typeface="Arial"/>
                <a:ea typeface="Arial"/>
                <a:cs typeface="Arial"/>
              </a:defRPr>
            </a:pPr>
            <a:r>
              <a:t>Dietary safeguards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2272D-10D8-4818-86B2-401C4FE0B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52950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386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Allergies, avoided ingredients and time limits.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8D924-D12E-4FC9-A3C4-97087216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972050"/>
            <a:ext cx="3238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CEFE6"/>
                </a:solidFill>
                <a:latin typeface="Arial"/>
                <a:ea typeface="Arial"/>
                <a:cs typeface="Arial"/>
              </a:defRPr>
            </a:pPr>
            <a:r>
              <a:t>Starting pantry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F41D86-411D-433F-810B-DEB20A26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38750"/>
            <a:ext cx="3238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963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Existing ingredients become immediate recipe context.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895d684c94c5b"/>
          <a:stretch xmlns:a="http://schemas.openxmlformats.org/drawingml/2006/main"/>
        </p:blipFill>
        <p:spPr>
          <a:xfrm xmlns:a="http://schemas.openxmlformats.org/drawingml/2006/main">
            <a:off x="561975" y="2057400"/>
            <a:ext cx="6705600" cy="3771900"/>
          </a:xfrm>
          <a:prstGeom xmlns:a="http://schemas.openxmlformats.org/drawingml/2006/main" prst="roundRect">
            <a:avLst>
              <a:gd name="adj" fmla="val 3030"/>
            </a:avLst>
          </a:prstGeom>
        </p:spPr>
      </p:pic>
    </p:spTree>
    <p:extLst>
      <p:ext uri="{BB962C8B-B14F-4D97-AF65-F5344CB8AC3E}">
        <p14:creationId xmlns:p14="http://schemas.microsoft.com/office/powerpoint/2010/main" val="1073756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5">
            <a:extLst xmlns:a="http://schemas.openxmlformats.org/drawingml/2006/main">
              <a:ext uri="{FF2B5EF4-FFF2-40B4-BE49-F238E27FC236}">
                <a16:creationId xmlns:a16="http://schemas.microsoft.com/office/drawing/2014/main" id="{AD2A4650-AEAA-4247-BB00-B82F2A95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5DC26836-317D-46AF-BFFF-8DE293A4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INVENTORY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E19580-A720-4096-AFBC-B6108EE3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B29C5CEE-B240-4A4B-9FA2-5E61A36B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C426C4-803F-41B3-AB1D-EA935EC9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486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The pantry is a living inventory, not a static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A7AC0A-7300-4593-8170-A29509DD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0"/>
            <a:ext cx="78105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AB959-4300-41BF-8AE5-1E789DAC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145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Inventory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20911-FC45-488B-BAFE-90DC9897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52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4"/>
          </a:solidFill>
          <a:ln xmlns:a="http://schemas.openxmlformats.org/drawingml/2006/main" w="0">
            <a:solidFill>
              <a:srgbClr val="0D6B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8DA15-4F90-4180-97F7-BCC3D82C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860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Quantities and units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6F65E-DAE2-4DBA-9E05-DAF6B157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048000"/>
            <a:ext cx="2781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4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Save realistic amounts using configurable measurement profiles.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DF8917-082C-403D-9A43-28F98762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9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A36"/>
          </a:solidFill>
          <a:ln xmlns:a="http://schemas.openxmlformats.org/drawingml/2006/main" w="0">
            <a:solidFill>
              <a:srgbClr val="E6AA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7B0EBD-A298-4AF4-8F33-F4D1EE41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Expiry and low stock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19EE26-308D-4A0D-A05D-E95B85E3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14800"/>
            <a:ext cx="2781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5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Surface urgent ingredients before they become waste or block a meal.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C3AEC-3257-406C-9710-4153C7F4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86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7F5B48-3736-4E33-A297-AEF5266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19650"/>
            <a:ext cx="27813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History and editing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0ECC82-2B42-4F65-96CF-5A9C34C2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81600"/>
            <a:ext cx="27813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02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Update, remove and review items while keeping the dashboard current.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a0805ed504417"/>
          <a:stretch xmlns:a="http://schemas.openxmlformats.org/drawingml/2006/main"/>
        </p:blipFill>
        <p:spPr>
          <a:xfrm xmlns:a="http://schemas.openxmlformats.org/drawingml/2006/main">
            <a:off x="1706523" y="2019300"/>
            <a:ext cx="5197554" cy="3943350"/>
          </a:xfrm>
          <a:prstGeom xmlns:a="http://schemas.openxmlformats.org/drawingml/2006/main" prst="roundRect">
            <a:avLst>
              <a:gd name="adj" fmla="val 2899"/>
            </a:avLst>
          </a:prstGeom>
        </p:spPr>
      </p:pic>
    </p:spTree>
    <p:extLst>
      <p:ext uri="{BB962C8B-B14F-4D97-AF65-F5344CB8AC3E}">
        <p14:creationId xmlns:p14="http://schemas.microsoft.com/office/powerpoint/2010/main" val="1845387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6">
            <a:extLst xmlns:a="http://schemas.openxmlformats.org/drawingml/2006/main">
              <a:ext uri="{FF2B5EF4-FFF2-40B4-BE49-F238E27FC236}">
                <a16:creationId xmlns:a16="http://schemas.microsoft.com/office/drawing/2014/main" id="{181CDAA6-C94E-4B70-BD6C-6D8CF5E95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577D5207-29B5-4F0B-AC60-DF96D9C7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RECIPE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032B30-F22C-4DAD-93C4-D0210E50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6">
            <a:extLst xmlns:a="http://schemas.openxmlformats.org/drawingml/2006/main">
              <a:ext uri="{FF2B5EF4-FFF2-40B4-BE49-F238E27FC236}">
                <a16:creationId xmlns:a16="http://schemas.microsoft.com/office/drawing/2014/main" id="{46EA692A-07D5-4B9A-A191-319101F92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8F8AD3-5EB3-44A7-9346-2C74EE8F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The pantry becomes a recipe search engine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5052D-6B45-442F-ABA6-C611205B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1D94FC-9F12-45DB-B686-99D7F6C0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66900"/>
            <a:ext cx="58293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3230A-83BF-4BD5-9BE8-0B8084DC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72150"/>
            <a:ext cx="1143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D6B54"/>
                </a:solidFill>
                <a:latin typeface="Arial"/>
                <a:ea typeface="Arial"/>
                <a:cs typeface="Arial"/>
              </a:defRPr>
            </a:pPr>
            <a:r>
              <a:t>MATCH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07F29-E4F5-4579-9DA1-671185A0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762625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94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Recipes are ranked against the user’s real pantry.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BD8A4-0128-46E6-9E11-21201CDC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772150"/>
            <a:ext cx="14287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B57"/>
                </a:solidFill>
                <a:latin typeface="Arial"/>
                <a:ea typeface="Arial"/>
                <a:cs typeface="Arial"/>
              </a:defRPr>
            </a:pPr>
            <a:r>
              <a:t>UNDERSTAND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F78DA2-001F-4074-BF47-CE426819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762625"/>
            <a:ext cx="4095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Details show ingredients, missing items, steps and nutrition estimates.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3dfbd84864364"/>
          <a:stretch xmlns:a="http://schemas.openxmlformats.org/drawingml/2006/main"/>
        </p:blipFill>
        <p:spPr>
          <a:xfrm xmlns:a="http://schemas.openxmlformats.org/drawingml/2006/main">
            <a:off x="769580" y="1981200"/>
            <a:ext cx="4594939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64bd5c17d34487"/>
          <a:stretch xmlns:a="http://schemas.openxmlformats.org/drawingml/2006/main"/>
        </p:blipFill>
        <p:spPr>
          <a:xfrm xmlns:a="http://schemas.openxmlformats.org/drawingml/2006/main">
            <a:off x="6579830" y="1981200"/>
            <a:ext cx="4594939" cy="3486150"/>
          </a:xfrm>
          <a:prstGeom xmlns:a="http://schemas.openxmlformats.org/drawingml/2006/main" prst="roundRect">
            <a:avLst>
              <a:gd name="adj" fmla="val 3279"/>
            </a:avLst>
          </a:prstGeom>
        </p:spPr>
      </p:pic>
    </p:spTree>
    <p:extLst>
      <p:ext uri="{BB962C8B-B14F-4D97-AF65-F5344CB8AC3E}">
        <p14:creationId xmlns:p14="http://schemas.microsoft.com/office/powerpoint/2010/main" val="12475243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7">
            <a:extLst xmlns:a="http://schemas.openxmlformats.org/drawingml/2006/main">
              <a:ext uri="{FF2B5EF4-FFF2-40B4-BE49-F238E27FC236}">
                <a16:creationId xmlns:a16="http://schemas.microsoft.com/office/drawing/2014/main" id="{C12E3313-7FE2-4CE6-9653-1DE96A10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E515A7E2-DD13-4E64-B310-7584D824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MEAL PLANNING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7ADD3-2C5D-480E-BF18-957A236C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7">
            <a:extLst xmlns:a="http://schemas.openxmlformats.org/drawingml/2006/main">
              <a:ext uri="{FF2B5EF4-FFF2-40B4-BE49-F238E27FC236}">
                <a16:creationId xmlns:a16="http://schemas.microsoft.com/office/drawing/2014/main" id="{8CDC6546-722D-4017-8D64-100E42AC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2479AC-9252-4777-AB11-30168CF4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2478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Weekly planning stays explainable and under the user’s control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BFA38E-0261-4D03-9805-18B8DD45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6858000" cy="3543300"/>
          </a:xfrm>
          <a:prstGeom xmlns:a="http://schemas.openxmlformats.org/drawingml/2006/main" prst="roundRect">
            <a:avLst>
              <a:gd name="adj" fmla="val 21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C352EC-694D-4F56-8D08-DBA46AAC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336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33F"/>
          </a:solidFill>
          <a:ln xmlns:a="http://schemas.openxmlformats.org/drawingml/2006/main" w="0">
            <a:solidFill>
              <a:srgbClr val="00533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38D54-22BF-4A66-A5F6-2158989F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E497FD-BF92-4664-B909-FC1487AA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145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Filter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071A1-3C0A-47FF-8AC1-F5270DB0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57450"/>
            <a:ext cx="3143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Allergies, avoided ingredients and cooking-time limits.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72EA-EB35-4ACA-AD85-8693F163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098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91205D-67F3-42E1-882D-7E73524A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00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A36"/>
          </a:solidFill>
          <a:ln xmlns:a="http://schemas.openxmlformats.org/drawingml/2006/main" w="0">
            <a:solidFill>
              <a:srgbClr val="E6AA3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06F709-5BEA-4CBC-8B6C-7A683FD3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575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FDC4B9-06BE-4FD2-9AFD-ABB1DA48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813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Preview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4DB6FE-8E62-44CD-B28B-822E7125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24250"/>
            <a:ext cx="3143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Gemini selects only approved recipes; PlateSense provides a safe fallback.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6D2B43-F843-4295-9037-E36C9872C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76650"/>
            <a:ext cx="19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ED9B74-4AE5-46F3-9FCB-A8953359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67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33F"/>
          </a:solidFill>
          <a:ln xmlns:a="http://schemas.openxmlformats.org/drawingml/2006/main" w="0">
            <a:solidFill>
              <a:srgbClr val="00533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2BC28D-27F2-485A-95CB-0F25AE63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324350"/>
            <a:ext cx="4000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D7839E-94AC-474A-9E37-DA798AB5A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248150"/>
            <a:ext cx="1428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Confirm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809E2-7E95-4749-8C8D-3CA6314C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3143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Nothing is saved until the user reviews and applies the plan.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77562-54D4-4AC0-9CFF-656323B1C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72150"/>
            <a:ext cx="1047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757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The calendar remains editable after generation, so automation supports decisions instead of replacing them.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b19bb94eb43bf"/>
          <a:stretch xmlns:a="http://schemas.openxmlformats.org/drawingml/2006/main"/>
        </p:blipFill>
        <p:spPr>
          <a:xfrm xmlns:a="http://schemas.openxmlformats.org/drawingml/2006/main">
            <a:off x="1644571" y="1962150"/>
            <a:ext cx="4368959" cy="3314700"/>
          </a:xfrm>
          <a:prstGeom xmlns:a="http://schemas.openxmlformats.org/drawingml/2006/main" prst="roundRect">
            <a:avLst>
              <a:gd name="adj" fmla="val 3448"/>
            </a:avLst>
          </a:prstGeom>
        </p:spPr>
      </p:pic>
    </p:spTree>
    <p:extLst>
      <p:ext uri="{BB962C8B-B14F-4D97-AF65-F5344CB8AC3E}">
        <p14:creationId xmlns:p14="http://schemas.microsoft.com/office/powerpoint/2010/main" val="337862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8">
            <a:extLst xmlns:a="http://schemas.openxmlformats.org/drawingml/2006/main">
              <a:ext uri="{FF2B5EF4-FFF2-40B4-BE49-F238E27FC236}">
                <a16:creationId xmlns:a16="http://schemas.microsoft.com/office/drawing/2014/main" id="{21642012-9060-436A-8ABE-DC334BD5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14060DF2-DAB6-4073-AAD2-E6E52131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SHOPPING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C8139-670D-43CE-B5B7-7A091D45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8">
            <a:extLst xmlns:a="http://schemas.openxmlformats.org/drawingml/2006/main">
              <a:ext uri="{FF2B5EF4-FFF2-40B4-BE49-F238E27FC236}">
                <a16:creationId xmlns:a16="http://schemas.microsoft.com/office/drawing/2014/main" id="{493C39B1-D47B-4B22-A5F9-258FAA9A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68DDCF-12FE-40AA-9885-C63AEA7E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68663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A meal plan becomes an actionable grocery list — then returns to the pantry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A10D1-0EEB-4F5B-93E1-EC2646D71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4785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F595F7-A2D9-4455-B40B-59891691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84785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AF79F-9D18-4A2E-A345-7CDEE0F8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865E2-5743-4D6F-92C7-7360C1150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43250"/>
            <a:ext cx="514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010AE5-2041-4D09-90B5-2FEFEF8AA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197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Generate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AEC82-BD99-4883-9FFC-F83AD0DF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3429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Missing ingredients are consolidated from recipes or the weekly meal plan.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878287-5B36-4E58-A21C-DE1CAC96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219700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6AA36"/>
                </a:solidFill>
                <a:latin typeface="Arial"/>
                <a:ea typeface="Arial"/>
                <a:cs typeface="Arial"/>
              </a:defRPr>
            </a:pPr>
            <a:r>
              <a:t>Check off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46948-D2A6-42BB-9F3F-0882EB03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43550"/>
            <a:ext cx="2476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Items can be marked as bought while shopping.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3720C9-7A1A-4AE5-8594-149A040C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6B57"/>
                </a:solidFill>
                <a:latin typeface="Arial"/>
                <a:ea typeface="Arial"/>
                <a:cs typeface="Arial"/>
              </a:defRPr>
            </a:pPr>
            <a:r>
              <a:t>Add to pantry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6D22E-D198-4C7E-AF12-3A10D7D8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5435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A purchase review converts bought items into updated inventory.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837ac6f1b4c25"/>
          <a:stretch xmlns:a="http://schemas.openxmlformats.org/drawingml/2006/main"/>
        </p:blipFill>
        <p:spPr>
          <a:xfrm xmlns:a="http://schemas.openxmlformats.org/drawingml/2006/main">
            <a:off x="1146215" y="1962150"/>
            <a:ext cx="3841671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e6d3cb4cd84341"/>
          <a:stretch xmlns:a="http://schemas.openxmlformats.org/drawingml/2006/main"/>
        </p:blipFill>
        <p:spPr>
          <a:xfrm xmlns:a="http://schemas.openxmlformats.org/drawingml/2006/main">
            <a:off x="7204115" y="1962150"/>
            <a:ext cx="3841671" cy="2914650"/>
          </a:xfrm>
          <a:prstGeom xmlns:a="http://schemas.openxmlformats.org/drawingml/2006/main" prst="roundRect">
            <a:avLst>
              <a:gd name="adj" fmla="val 3922"/>
            </a:avLst>
          </a:prstGeom>
        </p:spPr>
      </p:pic>
    </p:spTree>
    <p:extLst>
      <p:ext uri="{BB962C8B-B14F-4D97-AF65-F5344CB8AC3E}">
        <p14:creationId xmlns:p14="http://schemas.microsoft.com/office/powerpoint/2010/main" val="621913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9">
            <a:extLst xmlns:a="http://schemas.openxmlformats.org/drawingml/2006/main">
              <a:ext uri="{FF2B5EF4-FFF2-40B4-BE49-F238E27FC236}">
                <a16:creationId xmlns:a16="http://schemas.microsoft.com/office/drawing/2014/main" id="{090FF84C-82EA-4055-BA89-9B8F30A3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6BAF3F71-7206-41FF-BB54-485C14C0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GUIDANCE AND INTELLIGENCE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12169-5ED0-4D4D-87BB-D38C6B48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9">
            <a:extLst xmlns:a="http://schemas.openxmlformats.org/drawingml/2006/main">
              <a:ext uri="{FF2B5EF4-FFF2-40B4-BE49-F238E27FC236}">
                <a16:creationId xmlns:a16="http://schemas.microsoft.com/office/drawing/2014/main" id="{76DE2D77-31B7-4909-94F8-DC395CF0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3C3E32-5EF6-4161-AD2C-1403DB33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6274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Cooking closes the inventory loop while nutrition and AI add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AF1311-EA89-40A1-9106-58FF56CB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66900"/>
            <a:ext cx="619125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DDD474-B118-4CA4-8977-7C9EEEE8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24050"/>
            <a:ext cx="4286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Three connected capabilities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630B0F-B844-4941-8DF8-E639E982F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19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4"/>
          </a:solidFill>
          <a:ln xmlns:a="http://schemas.openxmlformats.org/drawingml/2006/main" w="0">
            <a:solidFill>
              <a:srgbClr val="0D6B5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87F9A4-4BF1-4418-8689-D34CD5421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52700"/>
            <a:ext cx="421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Guided cooking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DA1F5F-8CF1-4952-BEA1-29CFC5719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14650"/>
            <a:ext cx="421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Step-by-step instructions keep the selected recipe and pantry usage in one place.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5BE1BC-2A3F-4621-9B61-576A5584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052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A36"/>
          </a:solidFill>
          <a:ln xmlns:a="http://schemas.openxmlformats.org/drawingml/2006/main" w="0">
            <a:solidFill>
              <a:srgbClr val="E6AA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E2F65-F7C4-4A4F-82AE-A56664E2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38550"/>
            <a:ext cx="421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Automatic stock deduction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284125-96F8-4E95-9CB2-7E8EB5DD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00500"/>
            <a:ext cx="421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Completing a cooking session updates pantry quantities and records nutrition estimates.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71A63C-E1F1-4CFA-8E48-E85646EA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791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2811AB-8105-4BAA-9D08-84BE9719F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24400"/>
            <a:ext cx="42100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Food Scan + analytics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32A342-92D0-4419-921C-895BB3C2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86350"/>
            <a:ext cx="42100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Photo analysis identifies likely dishes, ingredients and allergens; weekly summaries remain clearly labeled as estimates.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3D89CD-02E4-441A-9CE9-3AEEADBC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9906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Images are compressed in the browser and are not saved in Pantry-to-Plate storage.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10054af11f4345"/>
          <a:stretch xmlns:a="http://schemas.openxmlformats.org/drawingml/2006/main"/>
        </p:blipFill>
        <p:spPr>
          <a:xfrm xmlns:a="http://schemas.openxmlformats.org/drawingml/2006/main">
            <a:off x="1072661" y="1981200"/>
            <a:ext cx="4846029" cy="3676650"/>
          </a:xfrm>
          <a:prstGeom xmlns:a="http://schemas.openxmlformats.org/drawingml/2006/main" prst="roundRect">
            <a:avLst>
              <a:gd name="adj" fmla="val 3109"/>
            </a:avLst>
          </a:prstGeom>
        </p:spPr>
      </p:pic>
    </p:spTree>
    <p:extLst>
      <p:ext uri="{BB962C8B-B14F-4D97-AF65-F5344CB8AC3E}">
        <p14:creationId xmlns:p14="http://schemas.microsoft.com/office/powerpoint/2010/main" val="3821911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rand-10">
            <a:extLst xmlns:a="http://schemas.openxmlformats.org/drawingml/2006/main">
              <a:ext uri="{FF2B5EF4-FFF2-40B4-BE49-F238E27FC236}">
                <a16:creationId xmlns:a16="http://schemas.microsoft.com/office/drawing/2014/main" id="{7F86C162-58F2-41F7-869F-3C128DEA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"/>
            <a:ext cx="2190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PANTRY-TO-PLATE</a:t>
            </a:r>
          </a:p>
        </p:txBody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50361D5F-91CC-4CE1-A287-DDC9DC265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"/>
            <a:ext cx="3048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TECHNOLOGY AND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16763D-9BE1-49BF-A486-ECA79D0A9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4" name="slide-number-10">
            <a:extLst xmlns:a="http://schemas.openxmlformats.org/drawingml/2006/main">
              <a:ext uri="{FF2B5EF4-FFF2-40B4-BE49-F238E27FC236}">
                <a16:creationId xmlns:a16="http://schemas.microsoft.com/office/drawing/2014/main" id="{C6B9B51B-239A-4302-ACA4-FB831236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29375"/>
            <a:ext cx="552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B19FE6-F1A1-4467-8AA6-7BB0B9BA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00100"/>
            <a:ext cx="113919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595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Pantry-to-Plate connects every decision from stock to serving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5B539-4B4C-4350-945F-B2B3795D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8595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PLATFORM LAYERS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B21B5-AEEC-40FE-BB02-F9A32074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6"/>
          </a:solidFill>
          <a:ln xmlns:a="http://schemas.openxmlformats.org/drawingml/2006/main" w="0">
            <a:solidFill>
              <a:srgbClr val="DCEFE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EDD6B-31B0-46EC-9353-BF3F03F3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Experience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52256-3884-46CF-BC41-FDDA0794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9077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00533F"/>
                </a:solidFill>
                <a:latin typeface="Arial"/>
                <a:ea typeface="Arial"/>
                <a:cs typeface="Arial"/>
              </a:defRPr>
            </a:pPr>
            <a:r>
              <a:t>React + Vite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543F5-CC73-442C-AA5B-E80673D1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D5"/>
          </a:solidFill>
          <a:ln xmlns:a="http://schemas.openxmlformats.org/drawingml/2006/main" w="0">
            <a:solidFill>
              <a:srgbClr val="FFF0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021ADB-3030-426A-9A6A-F3610D2F7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623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8B5B00"/>
                </a:solidFill>
                <a:latin typeface="Arial"/>
                <a:ea typeface="Arial"/>
                <a:cs typeface="Arial"/>
              </a:defRPr>
            </a:pPr>
            <a:r>
              <a:t>Food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3135A2-2EC9-4197-B256-77EC1A40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17182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8B5B00"/>
                </a:solidFill>
                <a:latin typeface="Arial"/>
                <a:ea typeface="Arial"/>
                <a:cs typeface="Arial"/>
              </a:defRPr>
            </a:pPr>
            <a:r>
              <a:t>PlateSense + Gemini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67305-EE1E-4907-A502-1EB06DB59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3DF"/>
          </a:solidFill>
          <a:ln xmlns:a="http://schemas.openxmlformats.org/drawingml/2006/main" w="0">
            <a:solidFill>
              <a:srgbClr val="FFE3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DF0E4E-337B-4973-93A1-0004D812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4335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9B392D"/>
                </a:solidFill>
                <a:latin typeface="Arial"/>
                <a:ea typeface="Arial"/>
                <a:cs typeface="Arial"/>
              </a:defRPr>
            </a:pPr>
            <a:r>
              <a:t>Application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B74A41-E9D2-4EFE-9B94-99E515B0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5287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9B392D"/>
                </a:solidFill>
                <a:latin typeface="Arial"/>
                <a:ea typeface="Arial"/>
                <a:cs typeface="Arial"/>
              </a:defRPr>
            </a:pPr>
            <a:r>
              <a:t>NestJS + Swagger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237D70-3776-4FAE-A3C3-78BB3A20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10100"/>
            <a:ext cx="504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A"/>
          </a:solidFill>
          <a:ln xmlns:a="http://schemas.openxmlformats.org/drawingml/2006/main" w="0">
            <a:solidFill>
              <a:srgbClr val="E9EC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0ABC44-C0E8-41CA-808C-9492F235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24400"/>
            <a:ext cx="2000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Data and identity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4A5E02-AAD1-4633-90B6-97B5F43A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733925"/>
            <a:ext cx="266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093"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Prisma + Supabase PostgreSQL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6AD64B-3957-441A-84F1-084DBCAEB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943100"/>
            <a:ext cx="9525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D8"/>
          </a:solidFill>
          <a:ln xmlns:a="http://schemas.openxmlformats.org/drawingml/2006/main" w="0">
            <a:solidFill>
              <a:srgbClr val="D9DE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4F7FB3-59A9-42CA-BE73-011DC7EF1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85950"/>
            <a:ext cx="4762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6736F"/>
                </a:solidFill>
                <a:latin typeface="Arial"/>
                <a:ea typeface="Arial"/>
                <a:cs typeface="Arial"/>
              </a:defRPr>
            </a:pPr>
            <a:r>
              <a:t>WHAT THE PLATFORM NOW DELIVERS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3350B2-110F-4FAC-861E-37CB50AA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907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4"/>
          </a:solidFill>
          <a:ln xmlns:a="http://schemas.openxmlformats.org/drawingml/2006/main" w="0">
            <a:solidFill>
              <a:srgbClr val="0D6B5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5BA68-2384-43BA-B9C2-E2E1542B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431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Personalized onboarding, authentication, settings and favorites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D8B1B3-2713-4D5C-82FF-7C97C0F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4"/>
          </a:solidFill>
          <a:ln xmlns:a="http://schemas.openxmlformats.org/drawingml/2006/main" w="0">
            <a:solidFill>
              <a:srgbClr val="0D6B5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E766F-1CF7-4B0D-8535-2EBD36F1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670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Pantry, recipes, meal plans, groceries, nutrition and cooking in one loop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A32D7D-33B6-4C03-805A-0176E59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385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6B54"/>
          </a:solidFill>
          <a:ln xmlns:a="http://schemas.openxmlformats.org/drawingml/2006/main" w="0">
            <a:solidFill>
              <a:srgbClr val="0D6B5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7A13CA-4CCC-47A2-90CB-4CEEB204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Nigerian-aware catalog intelligence with missing-ingredient detection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A9F3FA-D503-44E3-83F8-3019E077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624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7"/>
          </a:solidFill>
          <a:ln xmlns:a="http://schemas.openxmlformats.org/drawingml/2006/main" w="0">
            <a:solidFill>
              <a:srgbClr val="FF6B5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B5E518-40BF-4E3F-99FC-11AB40FAA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14850"/>
            <a:ext cx="4762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52D"/>
                </a:solidFill>
                <a:latin typeface="Arial"/>
                <a:ea typeface="Arial"/>
                <a:cs typeface="Arial"/>
              </a:defRPr>
            </a:pPr>
            <a:r>
              <a:t>Server-side AI with validation, approved recipe IDs and preview-before-save safeguards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87F06-C1B5-42D2-9F86-540E1622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372100"/>
            <a:ext cx="50863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33F"/>
          </a:solidFill>
          <a:ln xmlns:a="http://schemas.openxmlformats.org/drawingml/2006/main" w="0">
            <a:solidFill>
              <a:srgbClr val="00533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099A27-4122-4778-83F1-577E4159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524500"/>
            <a:ext cx="46291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8232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A complete closed loop: plan smarter, shop with purpose, cook confidently and keep the pantry accurate.</a:t>
            </a:r>
          </a:p>
        </p:txBody>
      </p:sp>
    </p:spTree>
    <p:extLst>
      <p:ext uri="{BB962C8B-B14F-4D97-AF65-F5344CB8AC3E}">
        <p14:creationId xmlns:p14="http://schemas.microsoft.com/office/powerpoint/2010/main" val="2045146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2026-07-18T10:34:54.1320000Z</dcterms:created>
  <dcterms:modified xsi:type="dcterms:W3CDTF">2026-07-18T10:34:54.1320000Z</dcterms:modified>
</coreProperties>
</file>